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ublic Sans Bold" charset="1" panose="00000000000000000000"/>
      <p:regular r:id="rId18"/>
    </p:embeddedFont>
    <p:embeddedFont>
      <p:font typeface="Playfair Display" charset="1" panose="00000500000000000000"/>
      <p:regular r:id="rId19"/>
    </p:embeddedFont>
    <p:embeddedFont>
      <p:font typeface="Public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17021" y="7520384"/>
            <a:ext cx="2420462" cy="2420462"/>
          </a:xfrm>
          <a:custGeom>
            <a:avLst/>
            <a:gdLst/>
            <a:ahLst/>
            <a:cxnLst/>
            <a:rect r="r" b="b" t="t" l="l"/>
            <a:pathLst>
              <a:path h="2420462" w="2420462">
                <a:moveTo>
                  <a:pt x="0" y="0"/>
                </a:moveTo>
                <a:lnTo>
                  <a:pt x="2420461" y="0"/>
                </a:lnTo>
                <a:lnTo>
                  <a:pt x="2420461" y="2420462"/>
                </a:lnTo>
                <a:lnTo>
                  <a:pt x="0" y="2420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57367"/>
            <a:ext cx="16230600" cy="39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b="true" sz="2214" spc="50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COMPARING STATISTICAL (ARIMA) VS. MACHINE LEARNING (ANN) APPROACHES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2873605"/>
            <a:ext cx="16408332" cy="154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461" spc="3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 Empirical Study on an AI-Driven System for Intraday Stock Market Prediction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407" y="7602855"/>
            <a:ext cx="7862435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Deepesh Sharma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25SCS1003000671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1CSE02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Submitted  to - Shobhit Agarwal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85725"/>
              <a:ext cx="21640800" cy="839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THE PROBLEM</a:t>
              </a:r>
            </a:p>
          </p:txBody>
        </p:sp>
        <p:sp>
          <p:nvSpPr>
            <p:cNvPr name="AutoShape 4" id="4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689" y="2122290"/>
            <a:ext cx="16230611" cy="193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839" indent="-303419" lvl="1">
              <a:lnSpc>
                <a:spcPts val="5256"/>
              </a:lnSpc>
              <a:buFont typeface="Arial"/>
              <a:buChar char="•"/>
            </a:pP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Stock markets are non-lin</a:t>
            </a: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ear, chaotic, and highly volatile.</a:t>
            </a:r>
          </a:p>
          <a:p>
            <a:pPr algn="l" marL="606839" indent="-303419" lvl="1">
              <a:lnSpc>
                <a:spcPts val="5256"/>
              </a:lnSpc>
              <a:buFont typeface="Arial"/>
              <a:buChar char="•"/>
            </a:pP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Manual intraday </a:t>
            </a: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trading is prone to emotional bias and human error.</a:t>
            </a:r>
          </a:p>
          <a:p>
            <a:pPr algn="l" marL="606839" indent="-303419" lvl="1">
              <a:lnSpc>
                <a:spcPts val="5256"/>
              </a:lnSpc>
              <a:buFont typeface="Arial"/>
              <a:buChar char="•"/>
            </a:pP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Traditional linear models often fail to capture complex market patterns.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786860"/>
            <a:ext cx="16252429" cy="775332"/>
            <a:chOff x="0" y="0"/>
            <a:chExt cx="21669905" cy="10337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21640800" cy="839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THE SOLUTION</a:t>
              </a:r>
            </a:p>
          </p:txBody>
        </p:sp>
        <p:sp>
          <p:nvSpPr>
            <p:cNvPr name="AutoShape 8" id="8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8689" y="5698046"/>
            <a:ext cx="16230611" cy="127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839" indent="-303419" lvl="1">
              <a:lnSpc>
                <a:spcPts val="5256"/>
              </a:lnSpc>
              <a:buFont typeface="Arial"/>
              <a:buChar char="•"/>
            </a:pP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 automated AI-d</a:t>
            </a: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rive</a:t>
            </a: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system </a:t>
            </a: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that eliminates human interference.</a:t>
            </a:r>
          </a:p>
          <a:p>
            <a:pPr algn="l" marL="606839" indent="-303419" lvl="1">
              <a:lnSpc>
                <a:spcPts val="5256"/>
              </a:lnSpc>
              <a:buFont typeface="Arial"/>
              <a:buChar char="•"/>
            </a:pP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Uses M</a:t>
            </a:r>
            <a:r>
              <a:rPr lang="en-US" sz="28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achine Learning to analyze historical data for better accuracy.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740524"/>
            <a:ext cx="91731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Reference: Venkatarathnam et al. (2024) (Base Paper).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6407" y="2162495"/>
            <a:ext cx="16242893" cy="258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895" indent="-426447" lvl="1">
              <a:lnSpc>
                <a:spcPts val="5135"/>
              </a:lnSpc>
              <a:buFont typeface="Arial"/>
              <a:buChar char="•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Primary Objectives:</a:t>
            </a:r>
          </a:p>
          <a:p>
            <a:pPr algn="l" marL="852895" indent="-426447" lvl="1">
              <a:lnSpc>
                <a:spcPts val="5135"/>
              </a:lnSpc>
              <a:buAutoNum type="arabicPeriod" startAt="1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Develop an automated pipeline for fetching Real-Time Stock Data.</a:t>
            </a:r>
          </a:p>
          <a:p>
            <a:pPr algn="l" marL="852895" indent="-426447" lvl="1">
              <a:lnSpc>
                <a:spcPts val="5135"/>
              </a:lnSpc>
              <a:buAutoNum type="arabicPeriod" startAt="1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Empirically compare ARIMA (Statistical) vs. ANN (Deep Learning).</a:t>
            </a:r>
          </a:p>
          <a:p>
            <a:pPr algn="l" marL="852895" indent="-426447" lvl="1">
              <a:lnSpc>
                <a:spcPts val="5135"/>
              </a:lnSpc>
              <a:buAutoNum type="arabicPeriod" startAt="1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Identify the most effective model for short-term price forecasting.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OBJECTIVES &amp; USE CASE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5484042"/>
            <a:ext cx="16242893" cy="323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895" indent="-426447" lvl="1">
              <a:lnSpc>
                <a:spcPts val="5135"/>
              </a:lnSpc>
              <a:buFont typeface="Arial"/>
              <a:buChar char="•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Real-World Use Case:</a:t>
            </a:r>
          </a:p>
          <a:p>
            <a:pPr algn="l" marL="852895" indent="-426447" lvl="1">
              <a:lnSpc>
                <a:spcPts val="5135"/>
              </a:lnSpc>
              <a:buAutoNum type="arabicPeriod" startAt="1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Retail Traders: Provides objective, data-backed Buy/Sell signals.</a:t>
            </a:r>
          </a:p>
          <a:p>
            <a:pPr algn="l" marL="852895" indent="-426447" lvl="1">
              <a:lnSpc>
                <a:spcPts val="5135"/>
              </a:lnSpc>
              <a:buAutoNum type="arabicPeriod" startAt="1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Risk Management: Reduces exposure by predicting volatility.</a:t>
            </a:r>
          </a:p>
          <a:p>
            <a:pPr algn="l" marL="852895" indent="-426447" lvl="1">
              <a:lnSpc>
                <a:spcPts val="5135"/>
              </a:lnSpc>
              <a:buAutoNum type="arabicPeriod" startAt="1"/>
            </a:pPr>
            <a:r>
              <a:rPr lang="en-US" sz="39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Algorithmic Trading: Can be deployed for automated execution.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90680" y="8630746"/>
            <a:ext cx="1682491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SYSTEM ARCHIT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ecture (Methodology)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689" y="2227065"/>
            <a:ext cx="16208782" cy="417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 Flow: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Input: Historical OHLCV Data (Open, High, Low, Close, Volume).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Processing: Cleaning, Scaling, and Feature Engineering.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Modeling: Parallel processing through ARIMA and ANN.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Output: Predicted Price &amp; RMSE Score.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Core Concept: Integrating Time-Series Analysis with Pattern Recognition.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6407" y="2162495"/>
            <a:ext cx="15953207" cy="817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Language: Python 3.x</a:t>
            </a:r>
          </a:p>
          <a:p>
            <a:pPr algn="l">
              <a:lnSpc>
                <a:spcPts val="5005"/>
              </a:lnSpc>
            </a:pPr>
          </a:p>
          <a:p>
            <a:pPr algn="l">
              <a:lnSpc>
                <a:spcPts val="5005"/>
              </a:lnSpc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Key Libraries Used:</a:t>
            </a:r>
          </a:p>
          <a:p>
            <a:pPr algn="l" marL="831305" indent="-415653" lvl="1">
              <a:lnSpc>
                <a:spcPts val="5005"/>
              </a:lnSpc>
              <a:buFont typeface="Arial"/>
              <a:buChar char="•"/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yfinance: Fetches real-time/historical market data from Yahoo Finance.</a:t>
            </a:r>
          </a:p>
          <a:p>
            <a:pPr algn="l" marL="831305" indent="-415653" lvl="1">
              <a:lnSpc>
                <a:spcPts val="5005"/>
              </a:lnSpc>
              <a:buFont typeface="Arial"/>
              <a:buChar char="•"/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pandas &amp; numpy: Handles data manipulation and vector calculations.</a:t>
            </a:r>
          </a:p>
          <a:p>
            <a:pPr algn="l" marL="831305" indent="-415653" lvl="1">
              <a:lnSpc>
                <a:spcPts val="5005"/>
              </a:lnSpc>
              <a:buFont typeface="Arial"/>
              <a:buChar char="•"/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scikit-learn: Used for MinMaxScaler (Data Normalization).</a:t>
            </a:r>
          </a:p>
          <a:p>
            <a:pPr algn="l" marL="831305" indent="-415653" lvl="1">
              <a:lnSpc>
                <a:spcPts val="5005"/>
              </a:lnSpc>
              <a:buFont typeface="Arial"/>
              <a:buChar char="•"/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statsmodels: Implements the ARIMA statistical model.</a:t>
            </a:r>
          </a:p>
          <a:p>
            <a:pPr algn="l" marL="831305" indent="-415653" lvl="1">
              <a:lnSpc>
                <a:spcPts val="5005"/>
              </a:lnSpc>
              <a:buFont typeface="Arial"/>
              <a:buChar char="•"/>
            </a:pPr>
            <a:r>
              <a:rPr lang="en-US" sz="3850" spc="1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tensorflow.keras: Builds and trains the Artificial Neural Network.</a:t>
            </a:r>
          </a:p>
          <a:p>
            <a:pPr algn="l">
              <a:lnSpc>
                <a:spcPts val="5005"/>
              </a:lnSpc>
            </a:pPr>
          </a:p>
          <a:p>
            <a:pPr algn="l">
              <a:lnSpc>
                <a:spcPts val="5005"/>
              </a:lnSpc>
            </a:pPr>
          </a:p>
          <a:p>
            <a:pPr algn="l">
              <a:lnSpc>
                <a:spcPts val="500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TECHNOLOGY STACK &amp; LIBRARIES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PRE-PROCESSING (UNIT: DATA ANALYSIS)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312790"/>
            <a:ext cx="16230600" cy="1254851"/>
            <a:chOff x="0" y="0"/>
            <a:chExt cx="21640800" cy="167313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21640800" cy="89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6"/>
                </a:lnSpc>
              </a:pPr>
              <a:r>
                <a:rPr lang="en-US" sz="4032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Why Pre-processing?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58911"/>
              <a:ext cx="21640800" cy="614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1"/>
                </a:lnSpc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Raw stock prices vary widely; Neural Networks converge faster</a:t>
              </a: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with scaled data.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282017"/>
            <a:ext cx="16230600" cy="4135887"/>
            <a:chOff x="0" y="0"/>
            <a:chExt cx="21640800" cy="551451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21640800" cy="89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6"/>
                </a:lnSpc>
              </a:pPr>
              <a:r>
                <a:rPr lang="en-US" sz="4032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Techniques Implemented: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058911"/>
              <a:ext cx="21640800" cy="445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Normalization: Used MinMaxScaler to scale prices between 0 and 1.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Feature Engineering: calculated RSI (Relative Strength Index) and Moving Averages (MA_10, MA_50)to add context</a:t>
              </a: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to raw prices.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Sequence Creation: Created 60-day look-back windows to train the ANN.</a:t>
              </a:r>
            </a:p>
            <a:p>
              <a:pPr algn="l">
                <a:lnSpc>
                  <a:spcPts val="3831"/>
                </a:lnSpc>
              </a:pPr>
            </a:p>
            <a:p>
              <a:pPr algn="l">
                <a:lnSpc>
                  <a:spcPts val="3831"/>
                </a:lnSpc>
              </a:pPr>
            </a:p>
            <a:p>
              <a:pPr algn="l">
                <a:lnSpc>
                  <a:spcPts val="3831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328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1 - ARIMA (STATISTICAL APPROACH)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36590"/>
            <a:ext cx="16230600" cy="68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03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Concept: Auto-Regressive Integrated Moving Average.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90305"/>
            <a:ext cx="16230600" cy="48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b="true" sz="27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Logic:</a:t>
            </a:r>
            <a:r>
              <a:rPr lang="en-US" sz="273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Assumes future points are a linear function of past observa</a:t>
            </a:r>
            <a:r>
              <a:rPr lang="en-US" sz="273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tions and errors.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282017"/>
            <a:ext cx="16230600" cy="3175542"/>
            <a:chOff x="0" y="0"/>
            <a:chExt cx="21640800" cy="42340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21640800" cy="89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6"/>
                </a:lnSpc>
              </a:pPr>
              <a:r>
                <a:rPr lang="en-US" sz="4032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Configuration: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58911"/>
              <a:ext cx="21640800" cy="317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Order (5,1,0):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p=5: Looks at the last 5 days (Auto-Regressive).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d=1: Differences data once</a:t>
              </a: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to make it stationary (Integrated).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q=0: No Moving Average error term.</a:t>
              </a:r>
            </a:p>
            <a:p>
              <a:pPr algn="l">
                <a:lnSpc>
                  <a:spcPts val="383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7318036"/>
            <a:ext cx="16230600" cy="194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2736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Implementation: </a:t>
            </a:r>
            <a:r>
              <a:rPr lang="en-US" sz="273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Uses a Rolling Forecast loop to predict one step a</a:t>
            </a:r>
            <a:r>
              <a:rPr lang="en-US" sz="273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a time.</a:t>
            </a:r>
          </a:p>
          <a:p>
            <a:pPr algn="l">
              <a:lnSpc>
                <a:spcPts val="3831"/>
              </a:lnSpc>
            </a:pPr>
          </a:p>
          <a:p>
            <a:pPr algn="l">
              <a:lnSpc>
                <a:spcPts val="3831"/>
              </a:lnSpc>
            </a:pPr>
          </a:p>
          <a:p>
            <a:pPr algn="l">
              <a:lnSpc>
                <a:spcPts val="383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2 - ANN (AI/DEEP LEARNING APPROACH)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27065"/>
            <a:ext cx="16230600" cy="61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353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Concept: Feed-Forward Artificial Neural Network (Multi-Layer Perceptron).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282017"/>
            <a:ext cx="16230600" cy="2695369"/>
            <a:chOff x="0" y="0"/>
            <a:chExt cx="21640800" cy="359382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21640800" cy="89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6"/>
                </a:lnSpc>
              </a:pPr>
              <a:r>
                <a:rPr lang="en-US" sz="4032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Architecture: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58911"/>
              <a:ext cx="21640800" cy="253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Input Layer: Takes 60 days of historical data.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Hi</a:t>
              </a: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dden Layers: 50 Neurons (ReLU) -&gt; Dropout</a:t>
              </a: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(0.2) -&gt; 25 Neurons (ReLU).</a:t>
              </a:r>
            </a:p>
            <a:p>
              <a:pPr algn="l" marL="1181680" indent="-393893" lvl="2">
                <a:lnSpc>
                  <a:spcPts val="3831"/>
                </a:lnSpc>
                <a:buFont typeface="Arial"/>
                <a:buChar char="⚬"/>
              </a:pP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Output Layer</a:t>
              </a:r>
              <a:r>
                <a:rPr lang="en-US" sz="27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1 Neuron (Predicted Price).</a:t>
              </a:r>
            </a:p>
            <a:p>
              <a:pPr algn="l">
                <a:lnSpc>
                  <a:spcPts val="383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7318036"/>
            <a:ext cx="16230600" cy="242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</a:pPr>
            <a:r>
              <a:rPr lang="en-US" sz="2736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Feature: </a:t>
            </a:r>
            <a:r>
              <a:rPr lang="en-US" sz="273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Dropout Layer prevents overfitting (memorizing data), ensuring the model generalizes well to new marke</a:t>
            </a:r>
            <a:r>
              <a:rPr lang="en-US" sz="273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conditions.</a:t>
            </a:r>
          </a:p>
          <a:p>
            <a:pPr algn="l">
              <a:lnSpc>
                <a:spcPts val="3831"/>
              </a:lnSpc>
            </a:pPr>
          </a:p>
          <a:p>
            <a:pPr algn="l">
              <a:lnSpc>
                <a:spcPts val="3831"/>
              </a:lnSpc>
            </a:pPr>
          </a:p>
          <a:p>
            <a:pPr algn="l">
              <a:lnSpc>
                <a:spcPts val="383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CODE BASICS &amp; LOGIC 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710469"/>
            <a:ext cx="18288000" cy="5216278"/>
            <a:chOff x="0" y="0"/>
            <a:chExt cx="24384000" cy="695503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85725"/>
              <a:ext cx="24384000" cy="1003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61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92066"/>
              <a:ext cx="24384000" cy="5762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Step 1</a:t>
              </a: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get_stock_data() pulls data for 'AAPL'.</a:t>
              </a:r>
            </a:p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Step 2</a:t>
              </a: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add_technical_indicators() enhances the dataset.</a:t>
              </a:r>
            </a:p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</a:t>
              </a: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ep 3</a:t>
              </a: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Data is split (80% Train, 20% Test) and Scaled.</a:t>
              </a:r>
            </a:p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Step</a:t>
              </a: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4</a:t>
              </a: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Models are trained:</a:t>
              </a:r>
            </a:p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train_predict_arima()</a:t>
              </a:r>
            </a:p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train_predict_ann()</a:t>
              </a:r>
            </a:p>
            <a:p>
              <a:pPr algn="l" marL="1331470" indent="-443823" lvl="2">
                <a:lnSpc>
                  <a:spcPts val="4316"/>
                </a:lnSpc>
                <a:buFont typeface="Arial"/>
                <a:buChar char="⚬"/>
              </a:pPr>
              <a:r>
                <a:rPr lang="en-US" b="true" sz="308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Step 5</a:t>
              </a: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Results are</a:t>
              </a:r>
              <a:r>
                <a:rPr lang="en-US" sz="3083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Inverse Scaled (converted back to original prices) for comparison.</a:t>
              </a:r>
            </a:p>
            <a:p>
              <a:pPr algn="l">
                <a:lnSpc>
                  <a:spcPts val="4316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RESULTS &amp; EMPIRICAL COMPARISON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34269"/>
            <a:ext cx="16230600" cy="6250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03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Evaluation Metric: </a:t>
            </a:r>
            <a:r>
              <a:rPr lang="en-US" sz="403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Root Mean Square Error (RMSE).</a:t>
            </a:r>
          </a:p>
          <a:p>
            <a:pPr algn="l">
              <a:lnSpc>
                <a:spcPts val="5646"/>
              </a:lnSpc>
            </a:pPr>
            <a:r>
              <a:rPr lang="en-US" sz="403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Observations:</a:t>
            </a:r>
          </a:p>
          <a:p>
            <a:pPr algn="l" marL="870710" indent="-435355" lvl="1">
              <a:lnSpc>
                <a:spcPts val="5646"/>
              </a:lnSpc>
              <a:buFont typeface="Arial"/>
              <a:buChar char="•"/>
            </a:pPr>
            <a:r>
              <a:rPr lang="en-US" sz="403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ARIMA: Shows a "lagging" behavior; good for trends but slow to react to sudden spikes.</a:t>
            </a:r>
          </a:p>
          <a:p>
            <a:pPr algn="l" marL="870710" indent="-435355" lvl="1">
              <a:lnSpc>
                <a:spcPts val="5646"/>
              </a:lnSpc>
              <a:buFont typeface="Arial"/>
              <a:buChar char="•"/>
            </a:pPr>
            <a:r>
              <a:rPr lang="en-US" sz="403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ANN: Captures non-linear volatility better; follows the price curve more closely.</a:t>
            </a:r>
          </a:p>
          <a:p>
            <a:pPr algn="l">
              <a:lnSpc>
                <a:spcPts val="5086"/>
              </a:lnSpc>
            </a:pPr>
            <a:r>
              <a:rPr lang="en-US" sz="363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 Output: </a:t>
            </a:r>
            <a:r>
              <a:rPr lang="en-US" sz="363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system generates a side-by-side plot of Actual vs. Predicted prices</a:t>
            </a:r>
          </a:p>
          <a:p>
            <a:pPr algn="l">
              <a:lnSpc>
                <a:spcPts val="564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 &amp; 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59230"/>
            <a:ext cx="16230600" cy="637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34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Conclusion: </a:t>
            </a:r>
          </a:p>
          <a:p>
            <a:pPr algn="l" marL="685901" indent="-342951" lvl="1">
              <a:lnSpc>
                <a:spcPts val="4447"/>
              </a:lnSpc>
              <a:buFont typeface="Arial"/>
              <a:buChar char="•"/>
            </a:pPr>
            <a:r>
              <a:rPr lang="en-US" sz="317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empirical study confirms that AI models (ANN) outperform traditional statistical models (ARIMA) for volatile intraday data.</a:t>
            </a:r>
          </a:p>
          <a:p>
            <a:pPr algn="l" marL="685901" indent="-342951" lvl="1">
              <a:lnSpc>
                <a:spcPts val="4447"/>
              </a:lnSpc>
              <a:buFont typeface="Arial"/>
              <a:buChar char="•"/>
            </a:pPr>
            <a:r>
              <a:rPr lang="en-US" sz="317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Automation successfully reduces the time required for analysis.</a:t>
            </a:r>
          </a:p>
          <a:p>
            <a:pPr algn="l">
              <a:lnSpc>
                <a:spcPts val="4447"/>
              </a:lnSpc>
            </a:pPr>
          </a:p>
          <a:p>
            <a:pPr algn="l">
              <a:lnSpc>
                <a:spcPts val="4679"/>
              </a:lnSpc>
            </a:pPr>
            <a:r>
              <a:rPr lang="en-US" sz="334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</a:t>
            </a:r>
            <a:r>
              <a:rPr lang="en-US" sz="3342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ture Scope:</a:t>
            </a:r>
          </a:p>
          <a:p>
            <a:pPr algn="l" marL="721690" indent="-360845" lvl="1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Hybridization: Optimizing ANN parameters using Genetic Algorithms (GA).</a:t>
            </a:r>
          </a:p>
          <a:p>
            <a:pPr algn="l" marL="721690" indent="-360845" lvl="1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Sentiment Integration: Adding Twitter/News sentiment to predict market crashes.</a:t>
            </a:r>
          </a:p>
          <a:p>
            <a:pPr algn="l" marL="721690" indent="-360845" lvl="1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Live</a:t>
            </a:r>
            <a:r>
              <a:rPr lang="en-US" sz="334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Deployment: Connecting to a brokerage API for real-money trading.</a:t>
            </a:r>
          </a:p>
          <a:p>
            <a:pPr algn="l">
              <a:lnSpc>
                <a:spcPts val="46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57367"/>
            <a:ext cx="16230600" cy="39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b="true" sz="2214" spc="50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COMPARING STATISTICAL (ARIMA) VS. MACHINE LEARNING (ANN) APPROACHES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7164705"/>
            <a:ext cx="7862435" cy="21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Deepesh Sharma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25SCS1003000671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1CSE02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Submitt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ed to - Shobhit Agarwal </a:t>
            </a:r>
          </a:p>
          <a:p>
            <a:pPr algn="l">
              <a:lnSpc>
                <a:spcPts val="345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817021" y="6837838"/>
            <a:ext cx="2420462" cy="2420462"/>
          </a:xfrm>
          <a:custGeom>
            <a:avLst/>
            <a:gdLst/>
            <a:ahLst/>
            <a:cxnLst/>
            <a:rect r="r" b="b" t="t" l="l"/>
            <a:pathLst>
              <a:path h="2420462" w="2420462">
                <a:moveTo>
                  <a:pt x="0" y="0"/>
                </a:moveTo>
                <a:lnTo>
                  <a:pt x="2420461" y="0"/>
                </a:lnTo>
                <a:lnTo>
                  <a:pt x="2420461" y="2420462"/>
                </a:lnTo>
                <a:lnTo>
                  <a:pt x="0" y="2420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DAG5tePlCf8</dc:identifier>
  <dcterms:modified xsi:type="dcterms:W3CDTF">2011-08-01T06:04:30Z</dcterms:modified>
  <cp:revision>1</cp:revision>
  <dc:title>Deepesh Sharma 25scs1003000671 1cse02</dc:title>
</cp:coreProperties>
</file>